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2" r:id="rId4"/>
  </p:sldMasterIdLst>
  <p:notesMasterIdLst>
    <p:notesMasterId r:id="rId12"/>
  </p:notesMasterIdLst>
  <p:handoutMasterIdLst>
    <p:handoutMasterId r:id="rId13"/>
  </p:handoutMasterIdLst>
  <p:sldIdLst>
    <p:sldId id="289" r:id="rId5"/>
    <p:sldId id="288" r:id="rId6"/>
    <p:sldId id="276" r:id="rId7"/>
    <p:sldId id="283" r:id="rId8"/>
    <p:sldId id="261" r:id="rId9"/>
    <p:sldId id="263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94" autoAdjust="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B16356-3B28-4AAF-8099-7941810E247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DA344-5FA2-43F7-9D95-CA56C82B0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76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44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6347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045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8523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4402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083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415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D6D8061D-18C3-4F4F-85EF-561633F5875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849520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873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69159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23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18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642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231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77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535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235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2201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AAEB19-4B49-2801-9B15-7682CDF04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23C3EC-28B3-4644-8BE5-3288734B4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57468" y="486137"/>
            <a:ext cx="5427584" cy="3599727"/>
          </a:xfrm>
        </p:spPr>
        <p:txBody>
          <a:bodyPr anchor="b" anchorCtr="0">
            <a:noAutofit/>
          </a:bodyPr>
          <a:lstStyle>
            <a:lvl1pPr algn="l">
              <a:defRPr sz="4400"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64FCBF4-90E6-FFAA-143D-3A01CE5256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24774" y="-6713"/>
            <a:ext cx="6578801" cy="6894576"/>
          </a:xfrm>
          <a:custGeom>
            <a:avLst/>
            <a:gdLst>
              <a:gd name="connsiteX0" fmla="*/ 0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0 w 6613525"/>
              <a:gd name="connsiteY4" fmla="*/ 0 h 6858000"/>
              <a:gd name="connsiteX0" fmla="*/ 1875099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1875099 w 6613525"/>
              <a:gd name="connsiteY4" fmla="*/ 0 h 6858000"/>
              <a:gd name="connsiteX0" fmla="*/ 1840375 w 6578801"/>
              <a:gd name="connsiteY0" fmla="*/ 0 h 6869575"/>
              <a:gd name="connsiteX1" fmla="*/ 6578801 w 6578801"/>
              <a:gd name="connsiteY1" fmla="*/ 0 h 6869575"/>
              <a:gd name="connsiteX2" fmla="*/ 6578801 w 6578801"/>
              <a:gd name="connsiteY2" fmla="*/ 6858000 h 6869575"/>
              <a:gd name="connsiteX3" fmla="*/ 0 w 6578801"/>
              <a:gd name="connsiteY3" fmla="*/ 6869575 h 6869575"/>
              <a:gd name="connsiteX4" fmla="*/ 1840375 w 6578801"/>
              <a:gd name="connsiteY4" fmla="*/ 0 h 686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8801" h="6869575">
                <a:moveTo>
                  <a:pt x="1840375" y="0"/>
                </a:moveTo>
                <a:lnTo>
                  <a:pt x="6578801" y="0"/>
                </a:lnTo>
                <a:lnTo>
                  <a:pt x="6578801" y="6858000"/>
                </a:lnTo>
                <a:lnTo>
                  <a:pt x="0" y="6869575"/>
                </a:lnTo>
                <a:lnTo>
                  <a:pt x="1840375" y="0"/>
                </a:lnTo>
                <a:close/>
              </a:path>
            </a:pathLst>
          </a:custGeom>
        </p:spPr>
        <p:txBody>
          <a:bodyPr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6987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E1BBEEFE-AE8A-8083-54B6-DBE9BC0E9F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2863" y="0"/>
            <a:ext cx="4658392" cy="6858000"/>
          </a:xfrm>
          <a:custGeom>
            <a:avLst/>
            <a:gdLst>
              <a:gd name="connsiteX0" fmla="*/ 0 w 4658392"/>
              <a:gd name="connsiteY0" fmla="*/ 0 h 6858000"/>
              <a:gd name="connsiteX1" fmla="*/ 4658392 w 4658392"/>
              <a:gd name="connsiteY1" fmla="*/ 0 h 6858000"/>
              <a:gd name="connsiteX2" fmla="*/ 2820797 w 4658392"/>
              <a:gd name="connsiteY2" fmla="*/ 6858000 h 6858000"/>
              <a:gd name="connsiteX3" fmla="*/ 0 w 4658392"/>
              <a:gd name="connsiteY3" fmla="*/ 6858000 h 6858000"/>
              <a:gd name="connsiteX4" fmla="*/ 0 w 465839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58392" h="6858000">
                <a:moveTo>
                  <a:pt x="0" y="0"/>
                </a:moveTo>
                <a:lnTo>
                  <a:pt x="4658392" y="0"/>
                </a:lnTo>
                <a:lnTo>
                  <a:pt x="282079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64FF31D-04D7-B1F4-53B1-AA4170602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9F040EF-92FF-AEA1-BBA6-A4B739E11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A59A84-C321-FDF9-555F-1FB322EBB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9286"/>
            <a:ext cx="3200400" cy="5617193"/>
          </a:xfrm>
        </p:spPr>
        <p:txBody>
          <a:bodyPr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23412" y="509286"/>
            <a:ext cx="4328932" cy="5617194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60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40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20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60CD5A6-A0E4-A658-65B1-0D6C053316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48813" y="-22860"/>
            <a:ext cx="2651760" cy="6903720"/>
          </a:xfrm>
        </p:spPr>
        <p:txBody>
          <a:bodyPr lIns="182880" tIns="274320" rIns="18288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7230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6EC6AF9-CC07-5258-9160-8C6391530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BC6DCCE-3025-75FB-9405-8D51DCD63D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516CCC3-736F-49AC-F079-9A090DAA8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3BF578A-ADDB-6713-E5AD-0FF27EDC2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743671"/>
            <a:ext cx="9144000" cy="3361254"/>
          </a:xfrm>
        </p:spPr>
        <p:txBody>
          <a:bodyPr anchor="b">
            <a:no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7620" y="4766434"/>
            <a:ext cx="12207240" cy="2121408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7209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3CF0EA4-D201-44E7-3558-D05CB4233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A643EA3-ACAA-539C-A041-266A895A2B1C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81E18B-2347-8DB6-2A7F-3EAC100A4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5072" y="528320"/>
            <a:ext cx="5028566" cy="3354992"/>
          </a:xfrm>
        </p:spPr>
        <p:txBody>
          <a:bodyPr anchor="b">
            <a:no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15072" y="4027992"/>
            <a:ext cx="5028565" cy="1894972"/>
          </a:xfrm>
        </p:spPr>
        <p:txBody>
          <a:bodyPr>
            <a:noAutofit/>
          </a:bodyPr>
          <a:lstStyle>
            <a:lvl1pPr marL="0" indent="0" algn="l">
              <a:buNone/>
              <a:defRPr sz="18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57326" y="-11576"/>
            <a:ext cx="4946249" cy="6903720"/>
          </a:xfrm>
          <a:custGeom>
            <a:avLst/>
            <a:gdLst>
              <a:gd name="connsiteX0" fmla="*/ 0 w 4977139"/>
              <a:gd name="connsiteY0" fmla="*/ 0 h 6858000"/>
              <a:gd name="connsiteX1" fmla="*/ 4977139 w 4977139"/>
              <a:gd name="connsiteY1" fmla="*/ 0 h 6858000"/>
              <a:gd name="connsiteX2" fmla="*/ 4977139 w 4977139"/>
              <a:gd name="connsiteY2" fmla="*/ 6858000 h 6858000"/>
              <a:gd name="connsiteX3" fmla="*/ 0 w 4977139"/>
              <a:gd name="connsiteY3" fmla="*/ 6858000 h 6858000"/>
              <a:gd name="connsiteX4" fmla="*/ 0 w 4977139"/>
              <a:gd name="connsiteY4" fmla="*/ 0 h 6858000"/>
              <a:gd name="connsiteX0" fmla="*/ 0 w 4977139"/>
              <a:gd name="connsiteY0" fmla="*/ 0 h 6892724"/>
              <a:gd name="connsiteX1" fmla="*/ 4977139 w 4977139"/>
              <a:gd name="connsiteY1" fmla="*/ 0 h 6892724"/>
              <a:gd name="connsiteX2" fmla="*/ 4977139 w 4977139"/>
              <a:gd name="connsiteY2" fmla="*/ 6858000 h 6892724"/>
              <a:gd name="connsiteX3" fmla="*/ 1863524 w 4977139"/>
              <a:gd name="connsiteY3" fmla="*/ 6892724 h 6892724"/>
              <a:gd name="connsiteX4" fmla="*/ 0 w 4977139"/>
              <a:gd name="connsiteY4" fmla="*/ 0 h 6892724"/>
              <a:gd name="connsiteX0" fmla="*/ 0 w 4977139"/>
              <a:gd name="connsiteY0" fmla="*/ 0 h 6892724"/>
              <a:gd name="connsiteX1" fmla="*/ 4977139 w 4977139"/>
              <a:gd name="connsiteY1" fmla="*/ 0 h 6892724"/>
              <a:gd name="connsiteX2" fmla="*/ 4977139 w 4977139"/>
              <a:gd name="connsiteY2" fmla="*/ 6892724 h 6892724"/>
              <a:gd name="connsiteX3" fmla="*/ 1863524 w 4977139"/>
              <a:gd name="connsiteY3" fmla="*/ 6892724 h 6892724"/>
              <a:gd name="connsiteX4" fmla="*/ 0 w 4977139"/>
              <a:gd name="connsiteY4" fmla="*/ 0 h 6892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7139" h="6892724">
                <a:moveTo>
                  <a:pt x="0" y="0"/>
                </a:moveTo>
                <a:lnTo>
                  <a:pt x="4977139" y="0"/>
                </a:lnTo>
                <a:lnTo>
                  <a:pt x="4977139" y="6892724"/>
                </a:lnTo>
                <a:lnTo>
                  <a:pt x="1863524" y="6892724"/>
                </a:lnTo>
                <a:lnTo>
                  <a:pt x="0" y="0"/>
                </a:lnTo>
                <a:close/>
              </a:path>
            </a:pathLst>
          </a:custGeom>
        </p:spPr>
        <p:txBody>
          <a:bodyPr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5351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6CBD635-4863-B127-5668-D2C7DA8CDE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629720-DD91-8012-686D-AABA43987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0911820" y="0"/>
            <a:ext cx="913577" cy="68580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70117" y="185195"/>
            <a:ext cx="6930838" cy="150549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FB27827-7491-B1C2-D9C5-975A9FF66E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8788" y="-22860"/>
            <a:ext cx="3291840" cy="6903720"/>
          </a:xfrm>
        </p:spPr>
        <p:txBody>
          <a:bodyPr lIns="182880" tIns="274320" rIns="18288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7D4D4555-A25D-09B6-36AF-5977189F2DD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0116" y="2022395"/>
            <a:ext cx="6941703" cy="429768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1500"/>
              </a:spcAft>
              <a:buFont typeface="Arial" panose="020B0604020202020204" pitchFamily="34" charset="0"/>
              <a:buChar char="•"/>
              <a:defRPr sz="1800"/>
            </a:lvl1pPr>
            <a:lvl2pPr>
              <a:spcBef>
                <a:spcPts val="1000"/>
              </a:spcBef>
              <a:spcAft>
                <a:spcPts val="1500"/>
              </a:spcAft>
              <a:defRPr sz="1800"/>
            </a:lvl2pPr>
            <a:lvl3pPr>
              <a:spcBef>
                <a:spcPts val="1000"/>
              </a:spcBef>
              <a:spcAft>
                <a:spcPts val="1500"/>
              </a:spcAft>
              <a:defRPr sz="1800"/>
            </a:lvl3pPr>
            <a:lvl4pPr>
              <a:spcBef>
                <a:spcPts val="1000"/>
              </a:spcBef>
              <a:spcAft>
                <a:spcPts val="1500"/>
              </a:spcAft>
              <a:defRPr sz="1800"/>
            </a:lvl4pPr>
            <a:lvl5pPr>
              <a:spcBef>
                <a:spcPts val="1000"/>
              </a:spcBef>
              <a:spcAft>
                <a:spcPts val="1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901379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00B3A65-BB60-F2B4-4CF4-19A7C53F1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F1DB8D5-B954-BFC9-C8D8-F0491CCBE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507D69F-27D7-2C68-A17D-3F1399C8B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6645965" cy="132556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1" y="2055813"/>
            <a:ext cx="5781261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600"/>
            </a:lvl2pPr>
            <a:lvl3pPr>
              <a:spcBef>
                <a:spcPts val="1000"/>
              </a:spcBef>
              <a:spcAft>
                <a:spcPts val="500"/>
              </a:spcAft>
              <a:defRPr sz="1400"/>
            </a:lvl3pPr>
            <a:lvl4pPr>
              <a:spcBef>
                <a:spcPts val="1000"/>
              </a:spcBef>
              <a:spcAft>
                <a:spcPts val="500"/>
              </a:spcAft>
              <a:defRPr sz="1200"/>
            </a:lvl4pPr>
            <a:lvl5pPr>
              <a:spcBef>
                <a:spcPts val="1000"/>
              </a:spcBef>
              <a:spcAft>
                <a:spcPts val="500"/>
              </a:spcAft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66991" y="-22860"/>
            <a:ext cx="4625008" cy="6903720"/>
          </a:xfrm>
        </p:spPr>
        <p:txBody>
          <a:bodyPr tIns="27432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4159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1843C0D-8C0B-0B3C-7014-7B7217C00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7B715CF-E60F-DDAE-369E-BCC2CE4FF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2BD8F5F-4228-6BB9-5EA6-553590898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F721F95-97C0-7151-B9F6-C088CEA1A7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78AD50A-9C6A-454B-0CAD-EAB51844014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0" y="0"/>
            <a:ext cx="7816995" cy="6858000"/>
          </a:xfrm>
          <a:custGeom>
            <a:avLst/>
            <a:gdLst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0 w 7813675"/>
              <a:gd name="connsiteY3" fmla="*/ 6903720 h 6903720"/>
              <a:gd name="connsiteX4" fmla="*/ 0 w 7813675"/>
              <a:gd name="connsiteY4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98854 w 7813675"/>
              <a:gd name="connsiteY3" fmla="*/ 686716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803"/>
              <a:gd name="connsiteX1" fmla="*/ 7813675 w 7813675"/>
              <a:gd name="connsiteY1" fmla="*/ 0 h 6907803"/>
              <a:gd name="connsiteX2" fmla="*/ 7813675 w 7813675"/>
              <a:gd name="connsiteY2" fmla="*/ 6903720 h 6907803"/>
              <a:gd name="connsiteX3" fmla="*/ 809014 w 7813675"/>
              <a:gd name="connsiteY3" fmla="*/ 6907803 h 6907803"/>
              <a:gd name="connsiteX4" fmla="*/ 0 w 7813675"/>
              <a:gd name="connsiteY4" fmla="*/ 6903720 h 6907803"/>
              <a:gd name="connsiteX5" fmla="*/ 0 w 7813675"/>
              <a:gd name="connsiteY5" fmla="*/ 0 h 6907803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4043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385"/>
              <a:gd name="connsiteX1" fmla="*/ 7813675 w 7813675"/>
              <a:gd name="connsiteY1" fmla="*/ 0 h 6907385"/>
              <a:gd name="connsiteX2" fmla="*/ 7813675 w 7813675"/>
              <a:gd name="connsiteY2" fmla="*/ 6903720 h 6907385"/>
              <a:gd name="connsiteX3" fmla="*/ 6359380 w 7813675"/>
              <a:gd name="connsiteY3" fmla="*/ 6907385 h 6907385"/>
              <a:gd name="connsiteX4" fmla="*/ 740434 w 7813675"/>
              <a:gd name="connsiteY4" fmla="*/ 6898913 h 6907385"/>
              <a:gd name="connsiteX5" fmla="*/ 0 w 7813675"/>
              <a:gd name="connsiteY5" fmla="*/ 6903720 h 6907385"/>
              <a:gd name="connsiteX6" fmla="*/ 0 w 7813675"/>
              <a:gd name="connsiteY6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3320 w 7816995"/>
              <a:gd name="connsiteY5" fmla="*/ 690372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2899555 w 7816995"/>
              <a:gd name="connsiteY2" fmla="*/ 464820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16995" h="6907385">
                <a:moveTo>
                  <a:pt x="3320" y="0"/>
                </a:moveTo>
                <a:lnTo>
                  <a:pt x="7816995" y="0"/>
                </a:lnTo>
                <a:lnTo>
                  <a:pt x="2899555" y="4648200"/>
                </a:lnTo>
                <a:lnTo>
                  <a:pt x="6362700" y="6907385"/>
                </a:lnTo>
                <a:lnTo>
                  <a:pt x="743754" y="6898913"/>
                </a:lnTo>
                <a:lnTo>
                  <a:pt x="2876060" y="4644390"/>
                </a:lnTo>
                <a:cubicBezTo>
                  <a:pt x="1610033" y="3689302"/>
                  <a:pt x="1117437" y="3324763"/>
                  <a:pt x="0" y="2510645"/>
                </a:cubicBezTo>
                <a:cubicBezTo>
                  <a:pt x="1107" y="1673763"/>
                  <a:pt x="2213" y="836882"/>
                  <a:pt x="3320" y="0"/>
                </a:cubicBezTo>
                <a:close/>
              </a:path>
            </a:pathLst>
          </a:custGeom>
          <a:solidFill>
            <a:schemeClr val="tx2"/>
          </a:solidFill>
          <a:ln w="22225">
            <a:noFill/>
          </a:ln>
        </p:spPr>
        <p:txBody>
          <a:bodyPr lIns="274320" tIns="274320"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992" y="731562"/>
            <a:ext cx="4902843" cy="3526778"/>
          </a:xfrm>
          <a:noFill/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80992" y="4373217"/>
            <a:ext cx="4902843" cy="1753221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000"/>
              </a:spcBef>
              <a:defRPr sz="1600">
                <a:solidFill>
                  <a:schemeClr val="tx1"/>
                </a:solidFill>
              </a:defRPr>
            </a:lvl2pPr>
            <a:lvl3pPr>
              <a:spcBef>
                <a:spcPts val="1000"/>
              </a:spcBef>
              <a:defRPr sz="1400">
                <a:solidFill>
                  <a:schemeClr val="tx1"/>
                </a:solidFill>
              </a:defRPr>
            </a:lvl3pPr>
            <a:lvl4pPr>
              <a:spcBef>
                <a:spcPts val="1000"/>
              </a:spcBef>
              <a:defRPr sz="1200">
                <a:solidFill>
                  <a:schemeClr val="tx1"/>
                </a:solidFill>
              </a:defRPr>
            </a:lvl4pPr>
            <a:lvl5pPr>
              <a:spcBef>
                <a:spcPts val="100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48094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D6D8061D-18C3-4F4F-85EF-561633F5875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777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710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FEC93CF-2672-7D78-F278-58C5E012E0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468" y="486137"/>
            <a:ext cx="5789912" cy="3921476"/>
          </a:xfrm>
        </p:spPr>
        <p:txBody>
          <a:bodyPr/>
          <a:lstStyle/>
          <a:p>
            <a:r>
              <a:rPr lang="en-IN" dirty="0" err="1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RoC</a:t>
            </a:r>
            <a:r>
              <a:rPr lang="en-IN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-wise</a:t>
            </a:r>
            <a:r>
              <a:rPr lang="en-IN" dirty="0"/>
              <a:t> </a:t>
            </a:r>
            <a:r>
              <a:rPr lang="en-IN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Company Master Data Analysis </a:t>
            </a:r>
            <a:endParaRPr lang="en-US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alatino Linotype" panose="02040502050505030304" pitchFamily="18" charset="0"/>
            </a:endParaRPr>
          </a:p>
        </p:txBody>
      </p:sp>
      <p:pic>
        <p:nvPicPr>
          <p:cNvPr id="7" name="Picture Placeholder 6" descr="Looking up view of a city with skyscrapers">
            <a:extLst>
              <a:ext uri="{FF2B5EF4-FFF2-40B4-BE49-F238E27FC236}">
                <a16:creationId xmlns:a16="http://schemas.microsoft.com/office/drawing/2014/main" id="{ED21B7CD-3D69-26B5-8A0B-52A19A6B0A2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" r="72"/>
          <a:stretch/>
        </p:blipFill>
        <p:spPr/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C73461B-E521-4CF1-F5E6-49CB9D4F9A98}"/>
              </a:ext>
            </a:extLst>
          </p:cNvPr>
          <p:cNvSpPr txBox="1"/>
          <p:nvPr/>
        </p:nvSpPr>
        <p:spPr>
          <a:xfrm>
            <a:off x="3116495" y="6002531"/>
            <a:ext cx="2979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-- By Gouri N Parvatagoudar</a:t>
            </a:r>
          </a:p>
        </p:txBody>
      </p:sp>
    </p:spTree>
    <p:extLst>
      <p:ext uri="{BB962C8B-B14F-4D97-AF65-F5344CB8AC3E}">
        <p14:creationId xmlns:p14="http://schemas.microsoft.com/office/powerpoint/2010/main" val="3078994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7453" y="509286"/>
            <a:ext cx="2336515" cy="944507"/>
          </a:xfrm>
          <a:noFill/>
        </p:spPr>
        <p:txBody>
          <a:bodyPr>
            <a:noAutofit/>
          </a:bodyPr>
          <a:lstStyle/>
          <a:p>
            <a:pPr algn="ctr"/>
            <a:r>
              <a:rPr lang="en-US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3947" y="1085667"/>
            <a:ext cx="4328932" cy="3855891"/>
          </a:xfrm>
          <a:noFill/>
        </p:spPr>
        <p:txBody>
          <a:bodyPr anchor="ctr">
            <a:normAutofit/>
          </a:bodyPr>
          <a:lstStyle/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+mj-lt"/>
              </a:rPr>
              <a:t>Introduction to the Dataset</a:t>
            </a:r>
          </a:p>
          <a:p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+mj-lt"/>
              </a:rPr>
              <a:t>Columns In our dataset</a:t>
            </a:r>
          </a:p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+mj-lt"/>
              </a:rPr>
              <a:t>Understanding key  Columns</a:t>
            </a:r>
          </a:p>
          <a:p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+mj-lt"/>
              </a:rPr>
              <a:t>CIN Breakdown</a:t>
            </a:r>
          </a:p>
        </p:txBody>
      </p:sp>
      <p:pic>
        <p:nvPicPr>
          <p:cNvPr id="25" name="Picture Placeholder 6" descr="A city skyline">
            <a:extLst>
              <a:ext uri="{FF2B5EF4-FFF2-40B4-BE49-F238E27FC236}">
                <a16:creationId xmlns:a16="http://schemas.microsoft.com/office/drawing/2014/main" id="{086C9520-C924-5732-CC82-F0C4A533D4E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" r="38"/>
          <a:stretch/>
        </p:blipFill>
        <p:spPr/>
      </p:pic>
    </p:spTree>
    <p:extLst>
      <p:ext uri="{BB962C8B-B14F-4D97-AF65-F5344CB8AC3E}">
        <p14:creationId xmlns:p14="http://schemas.microsoft.com/office/powerpoint/2010/main" val="1038351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1672" y="2311685"/>
            <a:ext cx="1910994" cy="1541124"/>
          </a:xfrm>
          <a:noFill/>
        </p:spPr>
        <p:txBody>
          <a:bodyPr anchor="b"/>
          <a:lstStyle/>
          <a:p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endParaRPr lang="en-US" dirty="0"/>
          </a:p>
        </p:txBody>
      </p:sp>
      <p:pic>
        <p:nvPicPr>
          <p:cNvPr id="17" name="Picture Placeholder 16" descr="A city with tall buildings">
            <a:extLst>
              <a:ext uri="{FF2B5EF4-FFF2-40B4-BE49-F238E27FC236}">
                <a16:creationId xmlns:a16="http://schemas.microsoft.com/office/drawing/2014/main" id="{4D6EE8D1-247A-B95F-BD1A-A2D76964CF3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" r="13"/>
          <a:stretch/>
        </p:blipFill>
        <p:spPr>
          <a:xfrm>
            <a:off x="0" y="4458210"/>
            <a:ext cx="12207240" cy="2121408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818352D-84DB-0553-41D5-9EB82DF08345}"/>
              </a:ext>
            </a:extLst>
          </p:cNvPr>
          <p:cNvSpPr txBox="1"/>
          <p:nvPr/>
        </p:nvSpPr>
        <p:spPr>
          <a:xfrm>
            <a:off x="3236357" y="438999"/>
            <a:ext cx="61747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+mj-lt"/>
              </a:rPr>
              <a:t>Introduction to the Dataset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DE2F700-F527-4D55-7599-58A4BA7A9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1672" y="1447564"/>
            <a:ext cx="8866597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chemeClr val="accent5">
                    <a:lumMod val="50000"/>
                  </a:schemeClr>
                </a:solidFill>
              </a:rPr>
              <a:t>Table Name: </a:t>
            </a:r>
            <a:r>
              <a:rPr lang="en-US" sz="3200" dirty="0">
                <a:solidFill>
                  <a:schemeClr val="accent5">
                    <a:lumMod val="50000"/>
                  </a:schemeClr>
                </a:solidFill>
              </a:rPr>
              <a:t>Registrars of Companies (</a:t>
            </a:r>
            <a:r>
              <a:rPr lang="en-US" sz="3200" dirty="0" err="1">
                <a:solidFill>
                  <a:schemeClr val="accent5">
                    <a:lumMod val="50000"/>
                  </a:schemeClr>
                </a:solidFill>
              </a:rPr>
              <a:t>RoC</a:t>
            </a:r>
            <a:r>
              <a:rPr lang="en-US" sz="3200" dirty="0">
                <a:solidFill>
                  <a:schemeClr val="accent5">
                    <a:lumMod val="50000"/>
                  </a:schemeClr>
                </a:solidFill>
              </a:rPr>
              <a:t>)-wise Company Master Data</a:t>
            </a:r>
            <a:endParaRPr lang="en-US" altLang="en-US" sz="3200" dirty="0">
              <a:solidFill>
                <a:schemeClr val="accent5">
                  <a:lumMod val="50000"/>
                </a:schemeClr>
              </a:solidFill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3200" dirty="0">
                <a:solidFill>
                  <a:schemeClr val="accent5">
                    <a:lumMod val="50000"/>
                  </a:schemeClr>
                </a:solidFill>
              </a:rPr>
              <a:t>Total Rows (Companies): 1,88,085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3200" dirty="0">
                <a:solidFill>
                  <a:schemeClr val="accent5">
                    <a:lumMod val="50000"/>
                  </a:schemeClr>
                </a:solidFill>
              </a:rPr>
              <a:t>Total Columns (Attributes): 16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accent5">
                    <a:lumMod val="50000"/>
                  </a:schemeClr>
                </a:solidFill>
              </a:rPr>
              <a:t>"Missing Values: 2 nulls found in the 'Registered Office Address' column"</a:t>
            </a:r>
            <a:endParaRPr lang="en-US" altLang="en-US" sz="3200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1088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5475" y="293061"/>
            <a:ext cx="6521369" cy="667500"/>
          </a:xfrm>
          <a:noFill/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Columns In our dataset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446868-83F0-CEEF-5E60-6D55C93B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7082" y="1160588"/>
            <a:ext cx="4946249" cy="5419690"/>
          </a:xfrm>
          <a:noFill/>
        </p:spPr>
        <p:txBody>
          <a:bodyPr anchor="t"/>
          <a:lstStyle/>
          <a:p>
            <a:pPr marL="342900" indent="-342900" algn="just">
              <a:buFont typeface="+mj-lt"/>
              <a:buAutoNum type="arabicPeriod"/>
            </a:pPr>
            <a:r>
              <a:rPr lang="en-US" sz="1100" dirty="0"/>
              <a:t>CIN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100" dirty="0"/>
              <a:t>Company Name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100" dirty="0"/>
              <a:t>Company ROC code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100" dirty="0"/>
              <a:t>Company Category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100" dirty="0"/>
              <a:t>Company  Sub-Category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100" dirty="0"/>
              <a:t>Company Class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100" dirty="0"/>
              <a:t>Authorized Capital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100" dirty="0"/>
              <a:t>Paid up Capital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100" dirty="0"/>
              <a:t>Company  Registration date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100" dirty="0"/>
              <a:t>Registered  Office  Address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100" dirty="0"/>
              <a:t>Listing status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100" dirty="0"/>
              <a:t>Company  Status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100" dirty="0"/>
              <a:t>Company State  Code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100" dirty="0"/>
              <a:t>Company Indian  Foreign  Company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100" dirty="0"/>
              <a:t>Nic  code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100" dirty="0"/>
              <a:t>Company Industrial Classification</a:t>
            </a:r>
          </a:p>
        </p:txBody>
      </p:sp>
      <p:pic>
        <p:nvPicPr>
          <p:cNvPr id="43" name="Picture Placeholder 42" descr="A plane flying over a city">
            <a:extLst>
              <a:ext uri="{FF2B5EF4-FFF2-40B4-BE49-F238E27FC236}">
                <a16:creationId xmlns:a16="http://schemas.microsoft.com/office/drawing/2014/main" id="{9100BC91-12A3-DE75-3F38-9C17D39DC5E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" r="39"/>
          <a:stretch/>
        </p:blipFill>
        <p:spPr>
          <a:xfrm>
            <a:off x="7236776" y="-22860"/>
            <a:ext cx="4946249" cy="6903720"/>
          </a:xfrm>
        </p:spPr>
      </p:pic>
    </p:spTree>
    <p:extLst>
      <p:ext uri="{BB962C8B-B14F-4D97-AF65-F5344CB8AC3E}">
        <p14:creationId xmlns:p14="http://schemas.microsoft.com/office/powerpoint/2010/main" val="4242039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8054" y="236306"/>
            <a:ext cx="8040373" cy="632450"/>
          </a:xfrm>
          <a:noFill/>
        </p:spPr>
        <p:txBody>
          <a:bodyPr/>
          <a:lstStyle/>
          <a:p>
            <a:pPr algn="ctr"/>
            <a:r>
              <a:rPr lang="en-IN" sz="3200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Understanding key  Columns</a:t>
            </a:r>
            <a:endParaRPr lang="en-US" sz="3200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4" name="Picture Placeholder 7" descr="Looking up view of tall buildings">
            <a:extLst>
              <a:ext uri="{FF2B5EF4-FFF2-40B4-BE49-F238E27FC236}">
                <a16:creationId xmlns:a16="http://schemas.microsoft.com/office/drawing/2014/main" id="{A672B903-78EE-718A-C122-69D51207883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" b="61"/>
          <a:stretch/>
        </p:blipFill>
        <p:spPr>
          <a:noFill/>
        </p:spPr>
      </p:pic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9129D35-B6C7-63AA-A141-569DB1E4424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370848389"/>
              </p:ext>
            </p:extLst>
          </p:nvPr>
        </p:nvGraphicFramePr>
        <p:xfrm>
          <a:off x="3640321" y="975083"/>
          <a:ext cx="7918107" cy="5700486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2639369">
                  <a:extLst>
                    <a:ext uri="{9D8B030D-6E8A-4147-A177-3AD203B41FA5}">
                      <a16:colId xmlns:a16="http://schemas.microsoft.com/office/drawing/2014/main" val="3965278441"/>
                    </a:ext>
                  </a:extLst>
                </a:gridCol>
                <a:gridCol w="2639369">
                  <a:extLst>
                    <a:ext uri="{9D8B030D-6E8A-4147-A177-3AD203B41FA5}">
                      <a16:colId xmlns:a16="http://schemas.microsoft.com/office/drawing/2014/main" val="1078988872"/>
                    </a:ext>
                  </a:extLst>
                </a:gridCol>
                <a:gridCol w="2639369">
                  <a:extLst>
                    <a:ext uri="{9D8B030D-6E8A-4147-A177-3AD203B41FA5}">
                      <a16:colId xmlns:a16="http://schemas.microsoft.com/office/drawing/2014/main" val="1241725783"/>
                    </a:ext>
                  </a:extLst>
                </a:gridCol>
              </a:tblGrid>
              <a:tr h="472803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Column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Meaning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Why It’s Important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9023295"/>
                  </a:ext>
                </a:extLst>
              </a:tr>
              <a:tr h="472803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CIN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Corporate Identification 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It is </a:t>
                      </a:r>
                      <a:r>
                        <a:rPr lang="en-US" b="0" dirty="0"/>
                        <a:t>assigned by the Ministry of Corporate Affairs (MCA).</a:t>
                      </a:r>
                      <a:endParaRPr lang="en-IN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7270342"/>
                  </a:ext>
                </a:extLst>
              </a:tr>
              <a:tr h="472803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Company ROC 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ROC location where the company is registered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dirty="0"/>
                        <a:t>Helps identify the regional jurisdiction for </a:t>
                      </a:r>
                      <a:r>
                        <a:rPr lang="en-IN" b="0" dirty="0"/>
                        <a:t>r</a:t>
                      </a:r>
                      <a:r>
                        <a:rPr lang="en-IN" dirty="0"/>
                        <a:t>egional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9296444"/>
                  </a:ext>
                </a:extLst>
              </a:tr>
              <a:tr h="472803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Company 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Private/Public/OPC company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Ownership type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2084019"/>
                  </a:ext>
                </a:extLst>
              </a:tr>
              <a:tr h="472803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Authorized Capital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Max capital company can raise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Indicates potential growth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7283942"/>
                  </a:ext>
                </a:extLst>
              </a:tr>
              <a:tr h="472803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Paid up Capital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Actual capital received from shareholders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Shows financial foundation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1664931"/>
                  </a:ext>
                </a:extLst>
              </a:tr>
              <a:tr h="472803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Listing 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Whether company is listed on stock exchange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Public-facing or not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7877962"/>
                  </a:ext>
                </a:extLst>
              </a:tr>
              <a:tr h="472803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NIC 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National Industrial Classification 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dirty="0"/>
                        <a:t>Categorize companies by their sector</a:t>
                      </a:r>
                      <a:endParaRPr lang="en-IN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672998"/>
                  </a:ext>
                </a:extLst>
              </a:tr>
              <a:tr h="472803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Company Industrial 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Industry name corresponding to NIC code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Helps in sectoral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65208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51035"/>
            <a:ext cx="6645965" cy="520461"/>
          </a:xfrm>
          <a:noFill/>
        </p:spPr>
        <p:txBody>
          <a:bodyPr/>
          <a:lstStyle/>
          <a:p>
            <a:pPr algn="ctr"/>
            <a:r>
              <a:rPr lang="en-US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CIN BREAKDOWN</a:t>
            </a:r>
          </a:p>
        </p:txBody>
      </p:sp>
      <p:pic>
        <p:nvPicPr>
          <p:cNvPr id="20" name="Picture Placeholder 19" descr="City lights at night">
            <a:extLst>
              <a:ext uri="{FF2B5EF4-FFF2-40B4-BE49-F238E27FC236}">
                <a16:creationId xmlns:a16="http://schemas.microsoft.com/office/drawing/2014/main" id="{E5D7764F-CE06-1A00-3555-ACAE6ACDFE1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/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02A87EB-F025-9F85-E2AE-36AF7DF1BB52}"/>
              </a:ext>
            </a:extLst>
          </p:cNvPr>
          <p:cNvSpPr txBox="1"/>
          <p:nvPr/>
        </p:nvSpPr>
        <p:spPr>
          <a:xfrm>
            <a:off x="727974" y="843677"/>
            <a:ext cx="669711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+mj-lt"/>
              </a:rPr>
              <a:t>Full Form: Corporate Identification Number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CIN helps identify the state, year of registration, company type, and industry code.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/>
              <a:t>It is assigned by the </a:t>
            </a:r>
            <a:r>
              <a:rPr lang="en-US" altLang="en-US" b="1" dirty="0"/>
              <a:t>Ministry of Corporate Affairs (MCA) </a:t>
            </a:r>
            <a:r>
              <a:rPr lang="en-US" altLang="en-US" dirty="0"/>
              <a:t>when a company registers.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/>
              <a:t>It tells you where, when, and what type of company it is.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endParaRPr lang="en-IN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BFA52A5-7DF7-09CE-78D0-84FF0D2B57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0301183"/>
              </p:ext>
            </p:extLst>
          </p:nvPr>
        </p:nvGraphicFramePr>
        <p:xfrm>
          <a:off x="1673046" y="3429000"/>
          <a:ext cx="4131852" cy="259588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924676">
                  <a:extLst>
                    <a:ext uri="{9D8B030D-6E8A-4147-A177-3AD203B41FA5}">
                      <a16:colId xmlns:a16="http://schemas.microsoft.com/office/drawing/2014/main" val="2256226242"/>
                    </a:ext>
                  </a:extLst>
                </a:gridCol>
                <a:gridCol w="3207176">
                  <a:extLst>
                    <a:ext uri="{9D8B030D-6E8A-4147-A177-3AD203B41FA5}">
                      <a16:colId xmlns:a16="http://schemas.microsoft.com/office/drawing/2014/main" val="29087843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4313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Company type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9421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74140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Industry code (based on NIC)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42830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State code (KA = Karnataka)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348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Year of registration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5857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PTC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Company class (Private Ltd.)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2214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060123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Unique registration 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3703819"/>
                  </a:ext>
                </a:extLst>
              </a:tr>
            </a:tbl>
          </a:graphicData>
        </a:graphic>
      </p:graphicFrame>
      <p:sp>
        <p:nvSpPr>
          <p:cNvPr id="13" name="Rectangle 7">
            <a:extLst>
              <a:ext uri="{FF2B5EF4-FFF2-40B4-BE49-F238E27FC236}">
                <a16:creationId xmlns:a16="http://schemas.microsoft.com/office/drawing/2014/main" id="{1E16D9CE-A6E4-3FE6-A733-8E759081D0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799" y="2914997"/>
            <a:ext cx="473809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alatino Linotype" panose="02040502050505030304" pitchFamily="18" charset="0"/>
              </a:rPr>
              <a:t>Example CIN: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alatino Linotype" panose="02040502050505030304" pitchFamily="18" charset="0"/>
              </a:rPr>
              <a:t> U74140KA2011PTC060123 </a:t>
            </a:r>
          </a:p>
        </p:txBody>
      </p:sp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Placeholder 5" descr="Close-up of a bridge with wires">
            <a:extLst>
              <a:ext uri="{FF2B5EF4-FFF2-40B4-BE49-F238E27FC236}">
                <a16:creationId xmlns:a16="http://schemas.microsoft.com/office/drawing/2014/main" id="{E461669C-A7BA-D639-22CB-B5FBBE698B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" r="20"/>
          <a:stretch/>
        </p:blipFill>
        <p:spPr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anchor="b"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10802199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C180A77-4928-484F-9529-F716C85D6A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0E62E91-3991-445A-ADE0-DB143B39320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C20BE78-9FDF-401B-B412-3AA10EC5BEA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181</TotalTime>
  <Words>331</Words>
  <Application>Microsoft Office PowerPoint</Application>
  <PresentationFormat>Widescreen</PresentationFormat>
  <Paragraphs>87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Aptos</vt:lpstr>
      <vt:lpstr>Arial</vt:lpstr>
      <vt:lpstr>Calibri</vt:lpstr>
      <vt:lpstr>Century Schoolbook</vt:lpstr>
      <vt:lpstr>Palatino Linotype</vt:lpstr>
      <vt:lpstr>Wingdings</vt:lpstr>
      <vt:lpstr>Wingdings 2</vt:lpstr>
      <vt:lpstr>View</vt:lpstr>
      <vt:lpstr>RoC-wise Company Master Data Analysis </vt:lpstr>
      <vt:lpstr>INDEX</vt:lpstr>
      <vt:lpstr>    </vt:lpstr>
      <vt:lpstr>Columns In our dataset</vt:lpstr>
      <vt:lpstr>Understanding key  Columns</vt:lpstr>
      <vt:lpstr>CIN BREAKDOWN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Anjana Nadig</dc:creator>
  <cp:lastModifiedBy>Gouri Parvatagoudar</cp:lastModifiedBy>
  <cp:revision>13</cp:revision>
  <dcterms:created xsi:type="dcterms:W3CDTF">2025-06-05T07:21:14Z</dcterms:created>
  <dcterms:modified xsi:type="dcterms:W3CDTF">2026-03-01T15:22:47Z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